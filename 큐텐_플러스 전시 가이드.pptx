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96" d="100"/>
          <a:sy n="96" d="100"/>
        </p:scale>
        <p:origin x="18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0A532-31BE-470C-A919-14E82309756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83B2C-0DF9-4D1A-8D5D-92728A9095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03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106E6-5767-5431-CDFE-7F83AC966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FE1468-9714-BB55-DA2F-467B8A85E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1814C-B68D-B742-5A4E-A3C5ACAA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936087-45A5-564B-0D40-A1F81E73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802E2-CEFD-60AF-939C-2FCE67EE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4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06872-5910-E455-7F38-5D4FEC0B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3891C-9BA8-F3E5-37B3-6B35B6C37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67322-8826-2C78-9655-D02F265E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E3634E-09E7-74D9-F4EA-F7BF4E9A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B099C1-8A9C-0AD9-1520-A5A8C206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067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5FB86-C03C-0E04-1D65-9E7E31C0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371396-D2DE-F433-4A7F-ED80BE1C2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AF2377-1013-FAAD-262D-7683C5FB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AB60FC-B6A2-22BD-2D0F-C382F361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E3547-37F6-74F0-BFBF-4D73F8F4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45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EE80C-447F-B69D-C137-2C68B963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B2DC99-36F5-EEC6-960A-ECCC44A9C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99111D-E872-7E2E-D95D-B1372B369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723F6E-EECA-7DF9-EF4D-99F57403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BA399E-453B-45EB-19E6-D3FEEE71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028C85-B717-8883-2B5B-37797009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77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4DF35-35D1-B3B2-EA96-AD189B43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D366E4-86F0-5E42-1DAD-655DF39F2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918585-EE70-BB4F-F9AE-22725AF32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8EE145-8FCF-E323-0CCF-7C1048BC52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950846-3FA9-7D9F-B0C7-6C47314E8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20BE25-7256-D7C9-D87B-07DDEE88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24D2B1-A839-2073-F91E-70D37C59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956208-B651-2082-A706-2504D275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7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50FC2-CCD3-8DC3-6C34-32478554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BBA14A-FA1B-E590-1E8D-E00F028F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A71184-4AD9-B5E7-9C8C-00CAA4DA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6E9EFF-9FE4-54F3-DD09-C8E3F94C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23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F0639F-1A37-BD1E-7F4B-83AFF2B3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B469ED-9A5A-0D48-BF0A-49077C71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1BFBF7-5EE4-3BAD-1EA1-A5723A2F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00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64F5C-AE77-F6F7-792C-2382D612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1BC6F-ED22-C475-8278-CCD283EF1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FFF373-18FB-30BC-C2C5-42D4BE5E4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ED00B6-716C-CA96-49B6-CBF70FEC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B51643-877D-F329-F768-EE2F0010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D9ECD0-492B-B8A6-C898-6B9F3C29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7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78F83-8DD9-5B33-48B7-83C7FCF4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38AEAE-927A-D136-ACDB-6D6A2D822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6628E1-2D43-C82A-D63D-1D2F93174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5DD4-67A7-0DE2-906E-14C911DCF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09CFAD-2DBC-075E-34B8-5810DF2D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64CE64-1AD9-5704-CE27-E0A0D13B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88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E2599-D3F3-B99A-2A1F-3494942D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8173ED-6137-F269-C4BB-172BD12AD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1F9C0-D201-64D8-E6BC-71CAFF25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7CCE0-63D6-9129-C1BF-6605D6EA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DEB1F-60C4-4186-97C0-F8673138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11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674178-57F9-3846-B33B-968231FCD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6EBC2D-FC64-91AE-8FFC-58E12BE7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8735FE-5E35-3689-D8DA-C966747A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038436-8A7B-353A-1221-543A0211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50999-9070-5A0E-8C88-7D571EE4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61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35E7D4-4C66-5121-9C75-6D742AD76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B0A896-D2DD-D6BB-2EA2-D6F0667AA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83EBEA-2657-EA55-5EF4-A9DCF0319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046D9-2134-41FD-A889-87FDBE4E371D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FCD972-8D3B-CE24-CE72-8B4F00E13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6D6724-C53D-F8EA-1CD5-31515C1BC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45EA2-9035-49C0-B4EF-4104AC9C0F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2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43BC95BF-E0BC-32CC-715A-D981CD711528}"/>
              </a:ext>
            </a:extLst>
          </p:cNvPr>
          <p:cNvGrpSpPr/>
          <p:nvPr/>
        </p:nvGrpSpPr>
        <p:grpSpPr>
          <a:xfrm>
            <a:off x="2754973" y="1783748"/>
            <a:ext cx="9140613" cy="4808510"/>
            <a:chOff x="431874" y="2340419"/>
            <a:chExt cx="9140613" cy="480851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A5F542A-2049-43C4-5DD4-0B74D2F14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807" y="2340419"/>
              <a:ext cx="9123680" cy="480851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1D7BEFC-4A58-9C51-560E-0DECC477B4AF}"/>
                </a:ext>
              </a:extLst>
            </p:cNvPr>
            <p:cNvSpPr/>
            <p:nvPr/>
          </p:nvSpPr>
          <p:spPr>
            <a:xfrm>
              <a:off x="431874" y="5027507"/>
              <a:ext cx="1479826" cy="18685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C4A2A59-A77C-63AB-74C7-EDF9143F623F}"/>
                </a:ext>
              </a:extLst>
            </p:cNvPr>
            <p:cNvSpPr/>
            <p:nvPr/>
          </p:nvSpPr>
          <p:spPr>
            <a:xfrm>
              <a:off x="431874" y="4295987"/>
              <a:ext cx="1479826" cy="18685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074E3751-C3F9-95E0-A538-72F6C7E59E28}"/>
                </a:ext>
              </a:extLst>
            </p:cNvPr>
            <p:cNvCxnSpPr>
              <a:cxnSpLocks/>
              <a:stCxn id="7" idx="2"/>
              <a:endCxn id="6" idx="0"/>
            </p:cNvCxnSpPr>
            <p:nvPr/>
          </p:nvCxnSpPr>
          <p:spPr>
            <a:xfrm>
              <a:off x="1171787" y="4482843"/>
              <a:ext cx="0" cy="5446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243773-D8C2-D607-5394-33E8050FD0D1}"/>
              </a:ext>
            </a:extLst>
          </p:cNvPr>
          <p:cNvSpPr txBox="1"/>
          <p:nvPr/>
        </p:nvSpPr>
        <p:spPr>
          <a:xfrm>
            <a:off x="144884" y="139181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플러스 전시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252EC-A00A-BEFD-A390-8810F1402D85}"/>
              </a:ext>
            </a:extLst>
          </p:cNvPr>
          <p:cNvSpPr txBox="1"/>
          <p:nvPr/>
        </p:nvSpPr>
        <p:spPr>
          <a:xfrm>
            <a:off x="519816" y="456035"/>
            <a:ext cx="10969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 err="1"/>
              <a:t>큐텐의</a:t>
            </a:r>
            <a:r>
              <a:rPr lang="ko-KR" altLang="en-US" sz="1200" dirty="0"/>
              <a:t> 검색 키워드 광고</a:t>
            </a:r>
            <a:endParaRPr lang="en-US" altLang="ko-KR" sz="1200" dirty="0"/>
          </a:p>
          <a:p>
            <a:pPr marL="342900" indent="-342900">
              <a:buFontTx/>
              <a:buAutoNum type="arabicPeriod"/>
            </a:pPr>
            <a:r>
              <a:rPr lang="ko-KR" altLang="en-US" sz="1200" dirty="0"/>
              <a:t>메뉴</a:t>
            </a:r>
            <a:r>
              <a:rPr lang="en-US" altLang="ko-KR" sz="1200" dirty="0"/>
              <a:t>. QSM &gt; </a:t>
            </a:r>
            <a:r>
              <a:rPr lang="ko-KR" altLang="en-US" sz="1200" dirty="0"/>
              <a:t>광고 및 전시 </a:t>
            </a:r>
            <a:r>
              <a:rPr lang="en-US" altLang="ko-KR" sz="1200" dirty="0"/>
              <a:t>&gt; </a:t>
            </a:r>
            <a:r>
              <a:rPr lang="ko-KR" altLang="en-US" sz="1200" dirty="0"/>
              <a:t>플러스 전시 https://qsm.qoo10.jp/GMKT.INC.Gsm.Web/ADPlus/ADPlusKeyword.aspx</a:t>
            </a:r>
            <a:endParaRPr lang="en-US" altLang="ko-KR" sz="12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/>
              <a:t>입찰 가능 시간 </a:t>
            </a:r>
            <a:r>
              <a:rPr lang="en-US" altLang="ko-KR" sz="1200" dirty="0"/>
              <a:t>-</a:t>
            </a:r>
            <a:r>
              <a:rPr lang="ko-KR" altLang="en-US" sz="1200" dirty="0"/>
              <a:t> </a:t>
            </a:r>
            <a:r>
              <a:rPr lang="en-US" altLang="ko-KR" sz="1200" dirty="0"/>
              <a:t>17:50~19:00 </a:t>
            </a:r>
            <a:r>
              <a:rPr lang="ko-KR" altLang="en-US" sz="1200" dirty="0"/>
              <a:t>제외하고 가능</a:t>
            </a:r>
            <a:endParaRPr lang="en-US" altLang="ko-KR" sz="12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200" dirty="0"/>
              <a:t>예시</a:t>
            </a:r>
            <a:r>
              <a:rPr lang="en-US" altLang="ko-KR" sz="1200" dirty="0"/>
              <a:t>. 2/24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입찰건은</a:t>
            </a:r>
            <a:r>
              <a:rPr lang="ko-KR" altLang="en-US" sz="1200" dirty="0"/>
              <a:t> </a:t>
            </a:r>
            <a:r>
              <a:rPr lang="en-US" altLang="ko-KR" sz="1200" dirty="0"/>
              <a:t>2/23 19:00~2/24 17:49:59</a:t>
            </a:r>
            <a:r>
              <a:rPr lang="ko-KR" altLang="en-US" sz="1200" dirty="0"/>
              <a:t>에 가능</a:t>
            </a:r>
            <a:endParaRPr lang="en-US" altLang="ko-KR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4BE7797-B7E7-4E4F-19E2-375ED14FF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14" y="1783748"/>
            <a:ext cx="2015061" cy="436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4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CCC8-F49B-BB20-D6D1-A75AC7D7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BDC26-4824-4A0E-EDCB-0BA76035D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30" y="2289574"/>
            <a:ext cx="12192000" cy="48318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2285F5-FC06-F035-AA47-ABB29F303813}"/>
              </a:ext>
            </a:extLst>
          </p:cNvPr>
          <p:cNvSpPr txBox="1"/>
          <p:nvPr/>
        </p:nvSpPr>
        <p:spPr>
          <a:xfrm>
            <a:off x="144884" y="139181"/>
            <a:ext cx="4035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입찰하는 방법 </a:t>
            </a:r>
            <a:r>
              <a:rPr lang="en-US" altLang="ko-KR" b="1" dirty="0"/>
              <a:t>(#1 </a:t>
            </a:r>
            <a:r>
              <a:rPr lang="ko-KR" altLang="en-US" b="1" dirty="0"/>
              <a:t>검색 키워드 입력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A01901-72F6-E3ED-DBAC-1B7472DF99D3}"/>
              </a:ext>
            </a:extLst>
          </p:cNvPr>
          <p:cNvSpPr txBox="1"/>
          <p:nvPr/>
        </p:nvSpPr>
        <p:spPr>
          <a:xfrm>
            <a:off x="519816" y="456035"/>
            <a:ext cx="109694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플러스 전시 </a:t>
            </a:r>
            <a:r>
              <a:rPr lang="en-US" altLang="ko-KR" sz="1200" dirty="0"/>
              <a:t>&gt; </a:t>
            </a:r>
            <a:r>
              <a:rPr lang="ko-KR" altLang="en-US" sz="1200" dirty="0"/>
              <a:t>키워드 별 입찰  들어가서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검색 키워드 창에 키워드 입력하고 검색</a:t>
            </a:r>
            <a:endParaRPr lang="en-US" altLang="ko-KR" sz="1200" dirty="0"/>
          </a:p>
          <a:p>
            <a:pPr marL="800100" lvl="1" indent="-342900">
              <a:buAutoNum type="arabicPeriod"/>
            </a:pPr>
            <a:r>
              <a:rPr lang="ko-KR" altLang="en-US" sz="1200" dirty="0"/>
              <a:t>이 때 사용하는 키워드는 </a:t>
            </a:r>
            <a:r>
              <a:rPr lang="ko-KR" altLang="en-US" sz="1200" dirty="0" err="1"/>
              <a:t>에이지샷은</a:t>
            </a:r>
            <a:r>
              <a:rPr lang="ko-KR" altLang="en-US" sz="1200" dirty="0"/>
              <a:t> </a:t>
            </a:r>
            <a:r>
              <a:rPr lang="ja-JP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リードルショット</a:t>
            </a:r>
            <a:r>
              <a:rPr lang="en-US" altLang="ja-JP" sz="1200" dirty="0"/>
              <a:t>, </a:t>
            </a:r>
            <a:r>
              <a:rPr lang="ko-KR" altLang="en-US" sz="1200" dirty="0" err="1"/>
              <a:t>스크래빗은</a:t>
            </a:r>
            <a:r>
              <a:rPr lang="ko-KR" altLang="en-US" sz="1200" dirty="0"/>
              <a:t> </a:t>
            </a:r>
            <a:r>
              <a:rPr lang="ja-JP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かかと</a:t>
            </a:r>
            <a:r>
              <a:rPr lang="ja-JP" altLang="en-US" sz="1200" dirty="0"/>
              <a:t> </a:t>
            </a:r>
            <a:endParaRPr lang="en-US" altLang="ja-JP" sz="12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/>
              <a:t>조회되는 정보</a:t>
            </a:r>
            <a:endParaRPr lang="en-US" altLang="ko-KR" sz="12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200" dirty="0"/>
              <a:t>입찰정보</a:t>
            </a:r>
            <a:endParaRPr lang="en-US" altLang="ko-KR" sz="1200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200" dirty="0"/>
              <a:t>‘</a:t>
            </a:r>
            <a:r>
              <a:rPr lang="ko-KR" altLang="en-US" sz="1200" dirty="0"/>
              <a:t>마감까지 남은 시간</a:t>
            </a:r>
            <a:r>
              <a:rPr lang="en-US" altLang="ko-KR" sz="1200" dirty="0"/>
              <a:t>’</a:t>
            </a:r>
            <a:r>
              <a:rPr lang="ko-KR" altLang="en-US" sz="1200" dirty="0"/>
              <a:t> 예의 주시할 것</a:t>
            </a:r>
            <a:r>
              <a:rPr lang="en-US" altLang="ko-KR" sz="1200" dirty="0"/>
              <a:t>.</a:t>
            </a:r>
            <a:r>
              <a:rPr lang="ko-KR" altLang="en-US" sz="1200" dirty="0"/>
              <a:t> 시간이 카운트 다운 되는데 </a:t>
            </a:r>
            <a:r>
              <a:rPr lang="en-US" altLang="ko-KR" sz="1200" dirty="0"/>
              <a:t>00:00:00 (</a:t>
            </a:r>
            <a:r>
              <a:rPr lang="ko-KR" altLang="en-US" sz="1200" dirty="0"/>
              <a:t>입찰종료</a:t>
            </a:r>
            <a:r>
              <a:rPr lang="en-US" altLang="ko-KR" sz="1200" dirty="0"/>
              <a:t>) </a:t>
            </a:r>
            <a:r>
              <a:rPr lang="ko-KR" altLang="en-US" sz="1200" dirty="0"/>
              <a:t>전에 최종 입찰 완료할 것</a:t>
            </a:r>
            <a:endParaRPr lang="en-US" altLang="ko-KR" sz="1200" dirty="0"/>
          </a:p>
          <a:p>
            <a:pPr marL="1257300" lvl="2" indent="-342900">
              <a:buFont typeface="+mj-lt"/>
              <a:buAutoNum type="arabicPeriod"/>
            </a:pPr>
            <a:r>
              <a:rPr lang="ko-KR" altLang="en-US" sz="1200" dirty="0"/>
              <a:t>입찰단위 </a:t>
            </a:r>
            <a:r>
              <a:rPr lang="en-US" altLang="ko-KR" sz="1200" dirty="0"/>
              <a:t>– </a:t>
            </a:r>
            <a:r>
              <a:rPr lang="ko-KR" altLang="en-US" sz="1200" dirty="0"/>
              <a:t>입찰단위 감안해서 입찰할 것 </a:t>
            </a:r>
            <a:r>
              <a:rPr lang="en-US" altLang="ko-KR" sz="1200" dirty="0"/>
              <a:t>(ex. </a:t>
            </a:r>
            <a:r>
              <a:rPr lang="ko-KR" altLang="en-US" sz="1200" dirty="0"/>
              <a:t>입찰단위 </a:t>
            </a:r>
            <a:r>
              <a:rPr lang="en-US" altLang="ko-KR" sz="1200" dirty="0"/>
              <a:t>‘100’ </a:t>
            </a:r>
            <a:r>
              <a:rPr lang="ko-KR" altLang="en-US" sz="1200" dirty="0"/>
              <a:t>인데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입찰가</a:t>
            </a:r>
            <a:r>
              <a:rPr lang="ko-KR" altLang="en-US" sz="1200" dirty="0"/>
              <a:t> </a:t>
            </a:r>
            <a:r>
              <a:rPr lang="en-US" altLang="ko-KR" sz="1200" dirty="0"/>
              <a:t>11450 </a:t>
            </a:r>
            <a:r>
              <a:rPr lang="ko-KR" altLang="en-US" sz="1200" dirty="0"/>
              <a:t>입력하면 입찰 안 됨</a:t>
            </a:r>
            <a:r>
              <a:rPr lang="en-US" altLang="ko-KR" sz="1200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200" dirty="0"/>
              <a:t>입찰 리스트 </a:t>
            </a:r>
            <a:r>
              <a:rPr lang="en-US" altLang="ko-KR" sz="1200" dirty="0"/>
              <a:t>– </a:t>
            </a:r>
            <a:r>
              <a:rPr lang="ko-KR" altLang="en-US" sz="1200" dirty="0"/>
              <a:t>현재</a:t>
            </a:r>
            <a:r>
              <a:rPr lang="en-US" altLang="ko-KR" sz="1200" dirty="0"/>
              <a:t> </a:t>
            </a:r>
            <a:r>
              <a:rPr lang="ko-KR" altLang="en-US" sz="1200" dirty="0"/>
              <a:t>입찰 상황</a:t>
            </a:r>
            <a:r>
              <a:rPr lang="en-US" altLang="ko-KR" sz="1200" dirty="0"/>
              <a:t>(</a:t>
            </a:r>
            <a:r>
              <a:rPr lang="ko-KR" altLang="en-US" sz="1200" dirty="0"/>
              <a:t>순위별 </a:t>
            </a:r>
            <a:r>
              <a:rPr lang="ko-KR" altLang="en-US" sz="1200" dirty="0" err="1"/>
              <a:t>입찰가</a:t>
            </a:r>
            <a:r>
              <a:rPr lang="en-US" altLang="ko-KR" sz="1200" dirty="0"/>
              <a:t>)</a:t>
            </a:r>
            <a:r>
              <a:rPr lang="ko-KR" altLang="en-US" sz="1200" dirty="0"/>
              <a:t>을 보여줌</a:t>
            </a:r>
            <a:r>
              <a:rPr lang="en-US" altLang="ko-KR" sz="1200" dirty="0"/>
              <a:t>. </a:t>
            </a:r>
            <a:r>
              <a:rPr lang="ko-KR" altLang="en-US" sz="1200" dirty="0"/>
              <a:t>검색 버튼을 클릭하면 최신화 된 정보로 </a:t>
            </a:r>
            <a:r>
              <a:rPr lang="ko-KR" altLang="en-US" sz="1200" dirty="0" err="1"/>
              <a:t>리프레쉬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해줌</a:t>
            </a:r>
            <a:endParaRPr lang="en-US" altLang="ko-KR" sz="12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200" dirty="0"/>
              <a:t>낙찰리스트 </a:t>
            </a:r>
            <a:r>
              <a:rPr lang="en-US" altLang="ko-KR" sz="1200" dirty="0"/>
              <a:t>– </a:t>
            </a:r>
            <a:r>
              <a:rPr lang="ko-KR" altLang="en-US" sz="1200" dirty="0"/>
              <a:t>전일 최종 입찰 상황을 보여줌 </a:t>
            </a:r>
            <a:endParaRPr lang="en-US" altLang="ko-KR" sz="1200" dirty="0"/>
          </a:p>
          <a:p>
            <a:pPr marL="1257300" lvl="2" indent="-342900">
              <a:buFont typeface="+mj-lt"/>
              <a:buAutoNum type="arabicPeriod"/>
            </a:pPr>
            <a:endParaRPr lang="en-US" altLang="ja-JP" sz="12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D095A9E-7218-C31C-1D7E-61932712C5C7}"/>
              </a:ext>
            </a:extLst>
          </p:cNvPr>
          <p:cNvGrpSpPr/>
          <p:nvPr/>
        </p:nvGrpSpPr>
        <p:grpSpPr>
          <a:xfrm>
            <a:off x="439530" y="3265363"/>
            <a:ext cx="3369365" cy="2111072"/>
            <a:chOff x="308113" y="2361537"/>
            <a:chExt cx="3369365" cy="211107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4858A20-C13B-32DA-3206-FDF7A8B9D23C}"/>
                </a:ext>
              </a:extLst>
            </p:cNvPr>
            <p:cNvSpPr/>
            <p:nvPr/>
          </p:nvSpPr>
          <p:spPr>
            <a:xfrm>
              <a:off x="1989483" y="3439641"/>
              <a:ext cx="1231348" cy="2822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C474838-7C52-4980-D95D-9F450C9549E0}"/>
                </a:ext>
              </a:extLst>
            </p:cNvPr>
            <p:cNvSpPr/>
            <p:nvPr/>
          </p:nvSpPr>
          <p:spPr>
            <a:xfrm>
              <a:off x="2923209" y="2361537"/>
              <a:ext cx="724452" cy="2822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34DC6654-AE43-9BA6-A10B-07A71FA9568F}"/>
                </a:ext>
              </a:extLst>
            </p:cNvPr>
            <p:cNvCxnSpPr>
              <a:cxnSpLocks/>
              <a:stCxn id="7" idx="2"/>
              <a:endCxn id="6" idx="0"/>
            </p:cNvCxnSpPr>
            <p:nvPr/>
          </p:nvCxnSpPr>
          <p:spPr>
            <a:xfrm flipH="1">
              <a:off x="2605157" y="2643809"/>
              <a:ext cx="680278" cy="79583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DF07EE1-C8DD-A162-AF80-16D3DA7F91D5}"/>
                </a:ext>
              </a:extLst>
            </p:cNvPr>
            <p:cNvSpPr/>
            <p:nvPr/>
          </p:nvSpPr>
          <p:spPr>
            <a:xfrm>
              <a:off x="308113" y="4243346"/>
              <a:ext cx="662478" cy="22926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4823082B-EF54-046C-05EF-E21CCB730B4B}"/>
                </a:ext>
              </a:extLst>
            </p:cNvPr>
            <p:cNvCxnSpPr>
              <a:cxnSpLocks/>
              <a:stCxn id="15" idx="3"/>
              <a:endCxn id="7" idx="1"/>
            </p:cNvCxnSpPr>
            <p:nvPr/>
          </p:nvCxnSpPr>
          <p:spPr>
            <a:xfrm flipV="1">
              <a:off x="970591" y="2502673"/>
              <a:ext cx="1952618" cy="18553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0E5794F-EC34-180E-9851-174D7215B8D3}"/>
                </a:ext>
              </a:extLst>
            </p:cNvPr>
            <p:cNvSpPr/>
            <p:nvPr/>
          </p:nvSpPr>
          <p:spPr>
            <a:xfrm>
              <a:off x="3315252" y="3439641"/>
              <a:ext cx="362226" cy="2822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1B56E16A-3FF1-3EDE-C760-608B272AE78B}"/>
                </a:ext>
              </a:extLst>
            </p:cNvPr>
            <p:cNvCxnSpPr>
              <a:cxnSpLocks/>
              <a:stCxn id="6" idx="3"/>
              <a:endCxn id="20" idx="1"/>
            </p:cNvCxnSpPr>
            <p:nvPr/>
          </p:nvCxnSpPr>
          <p:spPr>
            <a:xfrm>
              <a:off x="3220831" y="3580777"/>
              <a:ext cx="9442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349717-D399-1063-DAB2-3D855C537949}"/>
              </a:ext>
            </a:extLst>
          </p:cNvPr>
          <p:cNvSpPr/>
          <p:nvPr/>
        </p:nvSpPr>
        <p:spPr>
          <a:xfrm>
            <a:off x="5305948" y="6487227"/>
            <a:ext cx="1552051" cy="15741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BAB6D1-CB40-E39A-D212-3346FC2136EF}"/>
              </a:ext>
            </a:extLst>
          </p:cNvPr>
          <p:cNvSpPr/>
          <p:nvPr/>
        </p:nvSpPr>
        <p:spPr>
          <a:xfrm>
            <a:off x="7510668" y="5297728"/>
            <a:ext cx="2496932" cy="168219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D082CF-910F-F171-732E-F4244ECD545D}"/>
              </a:ext>
            </a:extLst>
          </p:cNvPr>
          <p:cNvSpPr/>
          <p:nvPr/>
        </p:nvSpPr>
        <p:spPr>
          <a:xfrm>
            <a:off x="10179877" y="5271963"/>
            <a:ext cx="2496932" cy="168219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24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69C6-ABC3-C362-CBAB-688592E3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E1F764DA-0D44-29C3-E824-72C09F239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7" y="1567141"/>
            <a:ext cx="7991475" cy="2716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D651C1-89A2-D6A1-9F02-A4828D8BDD2E}"/>
              </a:ext>
            </a:extLst>
          </p:cNvPr>
          <p:cNvSpPr txBox="1"/>
          <p:nvPr/>
        </p:nvSpPr>
        <p:spPr>
          <a:xfrm>
            <a:off x="144884" y="139181"/>
            <a:ext cx="818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입찰하는 방법 </a:t>
            </a:r>
            <a:r>
              <a:rPr lang="en-US" altLang="ko-KR" b="1" dirty="0"/>
              <a:t>(#2 </a:t>
            </a:r>
            <a:r>
              <a:rPr lang="ko-KR" altLang="en-US" b="1" dirty="0"/>
              <a:t>상품 선택하기 </a:t>
            </a:r>
            <a:r>
              <a:rPr lang="en-US" altLang="ko-KR" b="1" dirty="0"/>
              <a:t>– </a:t>
            </a:r>
            <a:r>
              <a:rPr lang="ko-KR" altLang="en-US" b="1" dirty="0"/>
              <a:t>키워드 검색 시 노출할 상품 선택하는 것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E0FE0-6505-AFE6-5EEB-458C89BF2C71}"/>
              </a:ext>
            </a:extLst>
          </p:cNvPr>
          <p:cNvSpPr txBox="1"/>
          <p:nvPr/>
        </p:nvSpPr>
        <p:spPr>
          <a:xfrm>
            <a:off x="538866" y="475085"/>
            <a:ext cx="10969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검색 키워드 입력 후 스크롤 내리면 </a:t>
            </a:r>
            <a:r>
              <a:rPr lang="en-US" altLang="ko-KR" sz="1200" dirty="0"/>
              <a:t>‘</a:t>
            </a:r>
            <a:r>
              <a:rPr lang="ko-KR" altLang="en-US" sz="1200" dirty="0"/>
              <a:t>상품 선택하기</a:t>
            </a:r>
            <a:r>
              <a:rPr lang="en-US" altLang="ko-KR" sz="1200" dirty="0"/>
              <a:t>’ </a:t>
            </a:r>
            <a:r>
              <a:rPr lang="ko-KR" altLang="en-US" sz="1200" dirty="0"/>
              <a:t>보임 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검색창에 검색 키워드에서 입력한 키워드가 입력되어 </a:t>
            </a:r>
            <a:r>
              <a:rPr lang="ko-KR" altLang="en-US" sz="1200" dirty="0" err="1"/>
              <a:t>있을텐데</a:t>
            </a:r>
            <a:r>
              <a:rPr lang="ko-KR" altLang="en-US" sz="1200" dirty="0"/>
              <a:t> 비워 주고</a:t>
            </a:r>
            <a:r>
              <a:rPr lang="en-US" altLang="ko-KR" sz="1200" dirty="0"/>
              <a:t>(</a:t>
            </a:r>
            <a:r>
              <a:rPr lang="ko-KR" altLang="en-US" sz="1200" dirty="0"/>
              <a:t>키워드 삭제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sym typeface="Wingdings" panose="05000000000000000000" pitchFamily="2" charset="2"/>
              </a:rPr>
              <a:t>검색 클릭 하면 상품 리스트가 조회 됨</a:t>
            </a:r>
            <a:endParaRPr lang="en-US" altLang="ko-KR" sz="1200" dirty="0"/>
          </a:p>
          <a:p>
            <a:pPr marL="800100" lvl="1" indent="-342900">
              <a:buAutoNum type="arabicPeriod"/>
            </a:pPr>
            <a:r>
              <a:rPr lang="ko-KR" altLang="en-US" sz="1200" dirty="0"/>
              <a:t>또는 노출할 상품의 상품코드를 알고 있을 경우 바로 코드 넣고 검색해도 됨</a:t>
            </a:r>
            <a:endParaRPr lang="en-US" altLang="ja-JP" sz="12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200" dirty="0"/>
              <a:t>조회된 상품 리스트에서 선택할 상품의 추가 열의 체크박스 체크해주면</a:t>
            </a:r>
            <a:r>
              <a:rPr lang="en-US" altLang="ko-KR" sz="1200" dirty="0"/>
              <a:t> </a:t>
            </a:r>
            <a:r>
              <a:rPr lang="ko-KR" altLang="en-US" sz="1200" dirty="0"/>
              <a:t>상품리스트 하단에 상품이 추가 됨</a:t>
            </a:r>
            <a:endParaRPr lang="en-US" altLang="ko-KR" sz="12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200" dirty="0"/>
              <a:t>추가 열 체크박스에 직접 체크하지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상품 열의 아무 곳이나</a:t>
            </a:r>
            <a:r>
              <a:rPr lang="en-US" altLang="ko-KR" sz="1200" dirty="0"/>
              <a:t>(</a:t>
            </a:r>
            <a:r>
              <a:rPr lang="ko-KR" altLang="en-US" sz="1200" dirty="0"/>
              <a:t>상품코드</a:t>
            </a:r>
            <a:r>
              <a:rPr lang="en-US" altLang="ko-KR" sz="1200" dirty="0"/>
              <a:t>, </a:t>
            </a:r>
            <a:r>
              <a:rPr lang="ko-KR" altLang="en-US" sz="1200" dirty="0"/>
              <a:t>타이틀</a:t>
            </a:r>
            <a:r>
              <a:rPr lang="en-US" altLang="ko-KR" sz="1200" dirty="0"/>
              <a:t>, </a:t>
            </a:r>
            <a:r>
              <a:rPr lang="ko-KR" altLang="en-US" sz="1200" dirty="0"/>
              <a:t>분류 등</a:t>
            </a:r>
            <a:r>
              <a:rPr lang="en-US" altLang="ko-KR" sz="1200" dirty="0"/>
              <a:t>) </a:t>
            </a:r>
            <a:r>
              <a:rPr lang="ko-KR" altLang="en-US" sz="1200" dirty="0"/>
              <a:t>더블클릭 해도 상품 추가 됨</a:t>
            </a:r>
            <a:endParaRPr lang="en-US" altLang="ko-KR" sz="1200" dirty="0"/>
          </a:p>
          <a:p>
            <a:pPr marL="1257300" lvl="2" indent="-342900">
              <a:buFont typeface="+mj-lt"/>
              <a:buAutoNum type="arabicPeriod"/>
            </a:pPr>
            <a:endParaRPr lang="en-US" altLang="ja-JP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B97065-829E-3C2E-6BFA-534E6EB17CEB}"/>
              </a:ext>
            </a:extLst>
          </p:cNvPr>
          <p:cNvSpPr/>
          <p:nvPr/>
        </p:nvSpPr>
        <p:spPr>
          <a:xfrm>
            <a:off x="7032108" y="1799454"/>
            <a:ext cx="1032235" cy="20529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B0C30-858C-82E0-A499-E16AD9912952}"/>
              </a:ext>
            </a:extLst>
          </p:cNvPr>
          <p:cNvSpPr txBox="1"/>
          <p:nvPr/>
        </p:nvSpPr>
        <p:spPr>
          <a:xfrm>
            <a:off x="6028088" y="2036202"/>
            <a:ext cx="1600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</a:rPr>
              <a:t>검색창</a:t>
            </a:r>
            <a:r>
              <a:rPr lang="ko-KR" altLang="en-US" sz="1000" b="1" dirty="0">
                <a:solidFill>
                  <a:srgbClr val="FF0000"/>
                </a:solidFill>
              </a:rPr>
              <a:t> 비움</a:t>
            </a:r>
            <a:r>
              <a:rPr lang="en-US" altLang="ko-KR" sz="1000" b="1" dirty="0">
                <a:solidFill>
                  <a:srgbClr val="FF0000"/>
                </a:solidFill>
              </a:rPr>
              <a:t>(</a:t>
            </a:r>
            <a:r>
              <a:rPr lang="ko-KR" altLang="en-US" sz="1000" b="1" dirty="0">
                <a:solidFill>
                  <a:srgbClr val="FF0000"/>
                </a:solidFill>
              </a:rPr>
              <a:t>키워드 삭제</a:t>
            </a:r>
            <a:r>
              <a:rPr lang="en-US" altLang="ko-KR" sz="1000" b="1" dirty="0">
                <a:solidFill>
                  <a:srgbClr val="FF0000"/>
                </a:solidFill>
              </a:rPr>
              <a:t>)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1EDF91A-2C65-480C-7C66-AEDC931A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59" y="2323309"/>
            <a:ext cx="8953500" cy="29845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81A35D8-C2C2-C100-9A1F-27218EA0F8ED}"/>
              </a:ext>
            </a:extLst>
          </p:cNvPr>
          <p:cNvCxnSpPr>
            <a:cxnSpLocks/>
            <a:stCxn id="2" idx="2"/>
            <a:endCxn id="29" idx="1"/>
          </p:cNvCxnSpPr>
          <p:nvPr/>
        </p:nvCxnSpPr>
        <p:spPr>
          <a:xfrm>
            <a:off x="7548226" y="2004752"/>
            <a:ext cx="2351536" cy="4355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5EFD82-F132-AFB5-C86F-9CD027EA6B6F}"/>
              </a:ext>
            </a:extLst>
          </p:cNvPr>
          <p:cNvSpPr/>
          <p:nvPr/>
        </p:nvSpPr>
        <p:spPr>
          <a:xfrm>
            <a:off x="9352015" y="2578446"/>
            <a:ext cx="946629" cy="17091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486F76-D472-93DF-617B-56FF5C5739BA}"/>
              </a:ext>
            </a:extLst>
          </p:cNvPr>
          <p:cNvSpPr/>
          <p:nvPr/>
        </p:nvSpPr>
        <p:spPr>
          <a:xfrm>
            <a:off x="9899762" y="2354869"/>
            <a:ext cx="531843" cy="17091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49B2468-35A6-89DA-462E-64EAAA41551C}"/>
              </a:ext>
            </a:extLst>
          </p:cNvPr>
          <p:cNvSpPr/>
          <p:nvPr/>
        </p:nvSpPr>
        <p:spPr>
          <a:xfrm>
            <a:off x="1691641" y="3100178"/>
            <a:ext cx="8738919" cy="90490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7F8FA3-09C1-43E9-CA6B-F22DEB56C205}"/>
              </a:ext>
            </a:extLst>
          </p:cNvPr>
          <p:cNvSpPr txBox="1"/>
          <p:nvPr/>
        </p:nvSpPr>
        <p:spPr>
          <a:xfrm>
            <a:off x="9969372" y="2151181"/>
            <a:ext cx="924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sym typeface="Wingdings" panose="05000000000000000000" pitchFamily="2" charset="2"/>
              </a:rPr>
              <a:t>검색 클릭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0C828D-DB9F-491B-94FE-D3EF32E63B7E}"/>
              </a:ext>
            </a:extLst>
          </p:cNvPr>
          <p:cNvSpPr txBox="1"/>
          <p:nvPr/>
        </p:nvSpPr>
        <p:spPr>
          <a:xfrm>
            <a:off x="5116154" y="3267708"/>
            <a:ext cx="2027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sym typeface="Wingdings" panose="05000000000000000000" pitchFamily="2" charset="2"/>
              </a:rPr>
              <a:t>상품 리스트 조회 됨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8F2C54A4-93DE-2EAB-0CB0-725C99C5B5E1}"/>
              </a:ext>
            </a:extLst>
          </p:cNvPr>
          <p:cNvCxnSpPr>
            <a:cxnSpLocks/>
            <a:stCxn id="29" idx="2"/>
            <a:endCxn id="47" idx="0"/>
          </p:cNvCxnSpPr>
          <p:nvPr/>
        </p:nvCxnSpPr>
        <p:spPr>
          <a:xfrm flipH="1">
            <a:off x="6061101" y="2525779"/>
            <a:ext cx="4104583" cy="5743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9" name="그림 68">
            <a:extLst>
              <a:ext uri="{FF2B5EF4-FFF2-40B4-BE49-F238E27FC236}">
                <a16:creationId xmlns:a16="http://schemas.microsoft.com/office/drawing/2014/main" id="{2FA2AA45-CFA8-051D-56B9-037A834FF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192" y="4101155"/>
            <a:ext cx="7942819" cy="32759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1D12797A-4996-1CAA-3B0F-4894E5DB855B}"/>
              </a:ext>
            </a:extLst>
          </p:cNvPr>
          <p:cNvSpPr/>
          <p:nvPr/>
        </p:nvSpPr>
        <p:spPr>
          <a:xfrm>
            <a:off x="3778893" y="5297218"/>
            <a:ext cx="367751" cy="319686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6F6DACA9-569D-05C1-45DF-5C4154D102E5}"/>
              </a:ext>
            </a:extLst>
          </p:cNvPr>
          <p:cNvCxnSpPr>
            <a:cxnSpLocks/>
            <a:stCxn id="47" idx="2"/>
            <a:endCxn id="76" idx="0"/>
          </p:cNvCxnSpPr>
          <p:nvPr/>
        </p:nvCxnSpPr>
        <p:spPr>
          <a:xfrm flipH="1">
            <a:off x="3962769" y="4005081"/>
            <a:ext cx="2098332" cy="12921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2E9ED2-F6B3-0483-850F-E4DD40756059}"/>
              </a:ext>
            </a:extLst>
          </p:cNvPr>
          <p:cNvSpPr txBox="1"/>
          <p:nvPr/>
        </p:nvSpPr>
        <p:spPr>
          <a:xfrm>
            <a:off x="4420089" y="4843084"/>
            <a:ext cx="2027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solidFill>
                  <a:srgbClr val="FF0000"/>
                </a:solidFill>
                <a:sym typeface="Wingdings" panose="05000000000000000000" pitchFamily="2" charset="2"/>
              </a:rPr>
              <a:t>선택할 상품 체크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23CD1BE-574B-284B-D3B3-38526E0210C1}"/>
              </a:ext>
            </a:extLst>
          </p:cNvPr>
          <p:cNvSpPr/>
          <p:nvPr/>
        </p:nvSpPr>
        <p:spPr>
          <a:xfrm>
            <a:off x="3839192" y="5648802"/>
            <a:ext cx="7669161" cy="705538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72976E-4849-4DF5-BE92-261B3210ADF9}"/>
              </a:ext>
            </a:extLst>
          </p:cNvPr>
          <p:cNvSpPr txBox="1"/>
          <p:nvPr/>
        </p:nvSpPr>
        <p:spPr>
          <a:xfrm>
            <a:off x="6305495" y="6084678"/>
            <a:ext cx="2027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sym typeface="Wingdings" panose="05000000000000000000" pitchFamily="2" charset="2"/>
              </a:rPr>
              <a:t>상품 추가됨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9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8AE9-21B4-E6BB-79F6-ABCE88D3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850AE4-D4D1-9BDF-87E2-D7224398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30" y="1702112"/>
            <a:ext cx="10115550" cy="17268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6DF787-2DEC-F3E7-9B76-C8409C37CE35}"/>
              </a:ext>
            </a:extLst>
          </p:cNvPr>
          <p:cNvSpPr txBox="1"/>
          <p:nvPr/>
        </p:nvSpPr>
        <p:spPr>
          <a:xfrm>
            <a:off x="144884" y="139181"/>
            <a:ext cx="764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입찰하는 방법 </a:t>
            </a:r>
            <a:r>
              <a:rPr lang="en-US" altLang="ko-KR" b="1" dirty="0"/>
              <a:t>(#3 </a:t>
            </a:r>
            <a:r>
              <a:rPr lang="ko-KR" altLang="en-US" b="1" dirty="0"/>
              <a:t>입찰하기 </a:t>
            </a:r>
            <a:r>
              <a:rPr lang="en-US" altLang="ko-KR" b="1" dirty="0"/>
              <a:t>– </a:t>
            </a:r>
            <a:r>
              <a:rPr lang="ko-KR" altLang="en-US" b="1" dirty="0"/>
              <a:t>키워드 검색 시 노출할 상품 선택하는 것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92A62-44A1-55DE-1D23-8C1EC0103B5A}"/>
              </a:ext>
            </a:extLst>
          </p:cNvPr>
          <p:cNvSpPr txBox="1"/>
          <p:nvPr/>
        </p:nvSpPr>
        <p:spPr>
          <a:xfrm>
            <a:off x="538866" y="475085"/>
            <a:ext cx="10969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입찰기간 설정</a:t>
            </a:r>
            <a:endParaRPr lang="en-US" altLang="ko-KR" sz="1200" dirty="0"/>
          </a:p>
          <a:p>
            <a:pPr marL="800100" lvl="1" indent="-342900">
              <a:buAutoNum type="arabicPeriod"/>
            </a:pPr>
            <a:r>
              <a:rPr lang="ko-KR" altLang="en-US" sz="1200" dirty="0"/>
              <a:t>시작과 종료일 다르게 해서 여러 날</a:t>
            </a:r>
            <a:r>
              <a:rPr lang="en-US" altLang="ko-KR" sz="1200" dirty="0"/>
              <a:t>(</a:t>
            </a:r>
            <a:r>
              <a:rPr lang="ko-KR" altLang="en-US" sz="1200" dirty="0"/>
              <a:t>기간</a:t>
            </a:r>
            <a:r>
              <a:rPr lang="en-US" altLang="ko-KR" sz="1200" dirty="0"/>
              <a:t>)</a:t>
            </a:r>
            <a:r>
              <a:rPr lang="ko-KR" altLang="en-US" sz="1200" dirty="0"/>
              <a:t>을 한 번에 입찰할 수 있고</a:t>
            </a:r>
            <a:endParaRPr lang="en-US" altLang="ko-KR" sz="1200" dirty="0"/>
          </a:p>
          <a:p>
            <a:pPr marL="800100" lvl="1" indent="-342900">
              <a:buAutoNum type="arabicPeriod"/>
            </a:pPr>
            <a:r>
              <a:rPr lang="ko-KR" altLang="en-US" sz="1200" dirty="0"/>
              <a:t>시작과 종료일 동일하게 설정해서 특정일만 입찰할 수 있음</a:t>
            </a:r>
            <a:r>
              <a:rPr lang="en-US" altLang="ko-KR" sz="1200" dirty="0"/>
              <a:t> </a:t>
            </a:r>
          </a:p>
          <a:p>
            <a:pPr marL="342900" indent="-342900">
              <a:buAutoNum type="arabicPeriod"/>
            </a:pPr>
            <a:r>
              <a:rPr lang="ko-KR" altLang="en-US" sz="1200" dirty="0" err="1"/>
              <a:t>입찰가</a:t>
            </a:r>
            <a:r>
              <a:rPr lang="ko-KR" altLang="en-US" sz="1200" dirty="0"/>
              <a:t> 입력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입찰하기 클릭</a:t>
            </a:r>
            <a:endParaRPr lang="en-US" altLang="ko-KR" sz="1200" dirty="0"/>
          </a:p>
          <a:p>
            <a:pPr marL="1257300" lvl="2" indent="-342900">
              <a:buFont typeface="+mj-lt"/>
              <a:buAutoNum type="arabicPeriod"/>
            </a:pPr>
            <a:endParaRPr lang="en-US" altLang="ja-JP" sz="12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07737E9-FA59-0069-D5A0-6B03F4CD0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667" y="3865002"/>
            <a:ext cx="2428875" cy="25908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76ECF1-AAD2-0DEA-F47B-A74E1AE73C90}"/>
              </a:ext>
            </a:extLst>
          </p:cNvPr>
          <p:cNvSpPr/>
          <p:nvPr/>
        </p:nvSpPr>
        <p:spPr>
          <a:xfrm>
            <a:off x="7262566" y="4200363"/>
            <a:ext cx="2360976" cy="2268167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B6D7A5A-3524-40D9-2086-BD242A5588E8}"/>
              </a:ext>
            </a:extLst>
          </p:cNvPr>
          <p:cNvCxnSpPr>
            <a:cxnSpLocks/>
            <a:stCxn id="29" idx="2"/>
            <a:endCxn id="14" idx="0"/>
          </p:cNvCxnSpPr>
          <p:nvPr/>
        </p:nvCxnSpPr>
        <p:spPr>
          <a:xfrm>
            <a:off x="7818501" y="2252671"/>
            <a:ext cx="624553" cy="194769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2932D5-62FD-8F84-DD7D-977051137983}"/>
              </a:ext>
            </a:extLst>
          </p:cNvPr>
          <p:cNvGrpSpPr/>
          <p:nvPr/>
        </p:nvGrpSpPr>
        <p:grpSpPr>
          <a:xfrm>
            <a:off x="3397065" y="1862456"/>
            <a:ext cx="6639659" cy="1667185"/>
            <a:chOff x="3368490" y="1390650"/>
            <a:chExt cx="6639659" cy="166718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3DF997-553D-5F93-BC95-3D05EE060EF2}"/>
                </a:ext>
              </a:extLst>
            </p:cNvPr>
            <p:cNvSpPr/>
            <p:nvPr/>
          </p:nvSpPr>
          <p:spPr>
            <a:xfrm>
              <a:off x="7166092" y="1390650"/>
              <a:ext cx="2086221" cy="43600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6C73275-2959-ADC6-7B53-B8F05D3AD553}"/>
                </a:ext>
              </a:extLst>
            </p:cNvPr>
            <p:cNvSpPr/>
            <p:nvPr/>
          </p:nvSpPr>
          <p:spPr>
            <a:xfrm>
              <a:off x="7406666" y="1490748"/>
              <a:ext cx="766520" cy="290117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30BCFFC-D6DF-6947-D86D-D368C23B817F}"/>
                </a:ext>
              </a:extLst>
            </p:cNvPr>
            <p:cNvSpPr/>
            <p:nvPr/>
          </p:nvSpPr>
          <p:spPr>
            <a:xfrm>
              <a:off x="3368490" y="1683121"/>
              <a:ext cx="755836" cy="43600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9CFB7A95-4ED0-3E89-2D81-CABBA3E4C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4326" y="1608651"/>
              <a:ext cx="3041766" cy="3180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7031F34-1A38-9F57-4E0F-9547A34DB87B}"/>
                </a:ext>
              </a:extLst>
            </p:cNvPr>
            <p:cNvSpPr/>
            <p:nvPr/>
          </p:nvSpPr>
          <p:spPr>
            <a:xfrm>
              <a:off x="9252313" y="2621833"/>
              <a:ext cx="755836" cy="43600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FF2806F-85E3-6F42-817F-0CB56C778A5B}"/>
                </a:ext>
              </a:extLst>
            </p:cNvPr>
            <p:cNvCxnSpPr>
              <a:cxnSpLocks/>
              <a:stCxn id="20" idx="2"/>
              <a:endCxn id="28" idx="1"/>
            </p:cNvCxnSpPr>
            <p:nvPr/>
          </p:nvCxnSpPr>
          <p:spPr>
            <a:xfrm>
              <a:off x="3746408" y="2119123"/>
              <a:ext cx="5505905" cy="7207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970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E9B2-B713-F2E3-FDC0-1A7D73E3F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114AC7-3B1C-7B81-EF66-49C46BB1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81" y="1768572"/>
            <a:ext cx="8210550" cy="41733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1BD120-AE53-AFC8-57D8-600B23E5A288}"/>
              </a:ext>
            </a:extLst>
          </p:cNvPr>
          <p:cNvSpPr txBox="1"/>
          <p:nvPr/>
        </p:nvSpPr>
        <p:spPr>
          <a:xfrm>
            <a:off x="144884" y="139181"/>
            <a:ext cx="828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입찰 수정</a:t>
            </a:r>
            <a:r>
              <a:rPr lang="en-US" altLang="ko-KR" b="1" dirty="0"/>
              <a:t>/</a:t>
            </a:r>
            <a:r>
              <a:rPr lang="ko-KR" altLang="en-US" b="1" dirty="0"/>
              <a:t>취소 방법 </a:t>
            </a:r>
            <a:r>
              <a:rPr lang="en-US" altLang="ko-KR" b="1" dirty="0"/>
              <a:t>(#3 </a:t>
            </a:r>
            <a:r>
              <a:rPr lang="ko-KR" altLang="en-US" b="1" dirty="0"/>
              <a:t>입찰하기 </a:t>
            </a:r>
            <a:r>
              <a:rPr lang="en-US" altLang="ko-KR" b="1" dirty="0"/>
              <a:t>– </a:t>
            </a:r>
            <a:r>
              <a:rPr lang="ko-KR" altLang="en-US" b="1" dirty="0"/>
              <a:t>키워드 검색 시 노출할 상품 선택하는 것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7F7E2-A912-1EE8-C2EB-D81FF06286CF}"/>
              </a:ext>
            </a:extLst>
          </p:cNvPr>
          <p:cNvSpPr txBox="1"/>
          <p:nvPr/>
        </p:nvSpPr>
        <p:spPr>
          <a:xfrm>
            <a:off x="538866" y="487477"/>
            <a:ext cx="109694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dirty="0"/>
              <a:t>플러스 전시 </a:t>
            </a:r>
            <a:r>
              <a:rPr lang="en-US" altLang="ko-KR" sz="1200" dirty="0"/>
              <a:t>&gt; </a:t>
            </a:r>
            <a:r>
              <a:rPr lang="ko-KR" altLang="en-US" sz="1200" dirty="0"/>
              <a:t>입찰 내역 에서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전시 일자 설정 </a:t>
            </a:r>
            <a:r>
              <a:rPr lang="en-US" altLang="ko-KR" sz="1200" dirty="0"/>
              <a:t>– </a:t>
            </a:r>
            <a:r>
              <a:rPr lang="ko-KR" altLang="en-US" sz="1200" dirty="0"/>
              <a:t>수정할 날짜를 설정하고 </a:t>
            </a:r>
            <a:r>
              <a:rPr lang="en-US" altLang="ko-KR" sz="1200" dirty="0"/>
              <a:t>(</a:t>
            </a:r>
            <a:r>
              <a:rPr lang="ko-KR" altLang="en-US" sz="1200" dirty="0"/>
              <a:t>보통 최종 입찰 작업 시 </a:t>
            </a:r>
            <a:r>
              <a:rPr lang="en-US" altLang="ko-KR" sz="1200" dirty="0"/>
              <a:t>‘</a:t>
            </a:r>
            <a:r>
              <a:rPr lang="ko-KR" altLang="en-US" sz="1200" dirty="0"/>
              <a:t>오늘</a:t>
            </a:r>
            <a:r>
              <a:rPr lang="en-US" altLang="ko-KR" sz="1200" dirty="0"/>
              <a:t>‘ </a:t>
            </a:r>
            <a:r>
              <a:rPr lang="ko-KR" altLang="en-US" sz="1200" dirty="0"/>
              <a:t>클릭하면 됨</a:t>
            </a:r>
            <a:r>
              <a:rPr lang="en-US" altLang="ko-KR" sz="1200" dirty="0"/>
              <a:t>) </a:t>
            </a:r>
            <a:r>
              <a:rPr lang="ko-KR" altLang="en-US" sz="1200" dirty="0"/>
              <a:t>검색 클릭하면 입찰 내역이 조회됨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수정</a:t>
            </a:r>
            <a:r>
              <a:rPr lang="en-US" altLang="ko-KR" sz="1200" dirty="0"/>
              <a:t>/</a:t>
            </a:r>
            <a:r>
              <a:rPr lang="ko-KR" altLang="en-US" sz="1200" dirty="0"/>
              <a:t>취소 원하는 내역의 체크박스 체크</a:t>
            </a:r>
            <a:r>
              <a:rPr lang="en-US" altLang="ko-KR" sz="1200" dirty="0"/>
              <a:t>(</a:t>
            </a:r>
            <a:r>
              <a:rPr lang="ko-KR" altLang="en-US" sz="1200" dirty="0"/>
              <a:t>또는 해당 행 더블 클릭</a:t>
            </a:r>
            <a:r>
              <a:rPr lang="en-US" altLang="ko-KR" sz="1200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200" dirty="0"/>
              <a:t>수정</a:t>
            </a:r>
            <a:r>
              <a:rPr lang="en-US" altLang="ko-KR" sz="1200" dirty="0"/>
              <a:t>/</a:t>
            </a:r>
            <a:r>
              <a:rPr lang="ko-KR" altLang="en-US" sz="1200" dirty="0"/>
              <a:t>취소</a:t>
            </a:r>
            <a:endParaRPr lang="en-US" altLang="ko-KR" sz="1200" dirty="0"/>
          </a:p>
          <a:p>
            <a:pPr marL="800100" lvl="1" indent="-342900">
              <a:buAutoNum type="arabicPeriod"/>
            </a:pPr>
            <a:r>
              <a:rPr lang="ko-KR" altLang="en-US" sz="1200" dirty="0"/>
              <a:t>수정 </a:t>
            </a:r>
            <a:r>
              <a:rPr lang="en-US" altLang="ko-KR" sz="1200" dirty="0"/>
              <a:t>– </a:t>
            </a:r>
            <a:r>
              <a:rPr lang="ko-KR" altLang="en-US" sz="1200" dirty="0"/>
              <a:t>변경할 </a:t>
            </a:r>
            <a:r>
              <a:rPr lang="ko-KR" altLang="en-US" sz="1200" dirty="0" err="1"/>
              <a:t>입찰가</a:t>
            </a:r>
            <a:r>
              <a:rPr lang="ko-KR" altLang="en-US" sz="1200" dirty="0"/>
              <a:t> 입력 </a:t>
            </a:r>
            <a:r>
              <a:rPr lang="en-US" altLang="ko-KR" sz="1200" dirty="0"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sym typeface="Wingdings" panose="05000000000000000000" pitchFamily="2" charset="2"/>
              </a:rPr>
              <a:t>수정 버튼 클릭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pPr marL="800100" lvl="1" indent="-342900">
              <a:buAutoNum type="arabicPeriod"/>
            </a:pPr>
            <a:r>
              <a:rPr lang="ko-KR" altLang="en-US" sz="1200" dirty="0">
                <a:sym typeface="Wingdings" panose="05000000000000000000" pitchFamily="2" charset="2"/>
              </a:rPr>
              <a:t>취소 </a:t>
            </a:r>
            <a:r>
              <a:rPr lang="en-US" altLang="ko-KR" sz="1200" dirty="0">
                <a:sym typeface="Wingdings" panose="05000000000000000000" pitchFamily="2" charset="2"/>
              </a:rPr>
              <a:t>– </a:t>
            </a:r>
            <a:r>
              <a:rPr lang="ko-KR" altLang="en-US" sz="1200" dirty="0">
                <a:sym typeface="Wingdings" panose="05000000000000000000" pitchFamily="2" charset="2"/>
              </a:rPr>
              <a:t>취소 버튼 클릭</a:t>
            </a:r>
            <a:endParaRPr lang="en-US" altLang="ko-KR" sz="1200" dirty="0"/>
          </a:p>
          <a:p>
            <a:pPr marL="800100" lvl="1" indent="-342900">
              <a:buAutoNum type="arabicPeriod"/>
            </a:pPr>
            <a:endParaRPr lang="en-US" altLang="ko-KR" sz="1200" dirty="0"/>
          </a:p>
          <a:p>
            <a:pPr marL="1257300" lvl="2" indent="-342900">
              <a:buFont typeface="+mj-lt"/>
              <a:buAutoNum type="arabicPeriod"/>
            </a:pPr>
            <a:endParaRPr lang="en-US" altLang="ja-JP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0763F81-6A83-C8AB-E2F5-2CE654CC3887}"/>
              </a:ext>
            </a:extLst>
          </p:cNvPr>
          <p:cNvSpPr/>
          <p:nvPr/>
        </p:nvSpPr>
        <p:spPr>
          <a:xfrm>
            <a:off x="1532170" y="1745580"/>
            <a:ext cx="681936" cy="38141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8C8031-05E4-4595-4E67-057897F2FBED}"/>
              </a:ext>
            </a:extLst>
          </p:cNvPr>
          <p:cNvSpPr/>
          <p:nvPr/>
        </p:nvSpPr>
        <p:spPr>
          <a:xfrm>
            <a:off x="7703760" y="4688552"/>
            <a:ext cx="484892" cy="30187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AF8D404-83A8-1AC8-C29D-357CB9ED72CB}"/>
              </a:ext>
            </a:extLst>
          </p:cNvPr>
          <p:cNvCxnSpPr>
            <a:cxnSpLocks/>
            <a:stCxn id="20" idx="2"/>
            <a:endCxn id="10" idx="0"/>
          </p:cNvCxnSpPr>
          <p:nvPr/>
        </p:nvCxnSpPr>
        <p:spPr>
          <a:xfrm>
            <a:off x="1873138" y="2126999"/>
            <a:ext cx="5219" cy="3018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7B35449-699C-4DA4-5E8D-6393502376C9}"/>
              </a:ext>
            </a:extLst>
          </p:cNvPr>
          <p:cNvSpPr/>
          <p:nvPr/>
        </p:nvSpPr>
        <p:spPr>
          <a:xfrm>
            <a:off x="451539" y="5145421"/>
            <a:ext cx="2853636" cy="247666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D9F7DDB-8FB0-94F1-ED8E-56E6FEB96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43" y="5105226"/>
            <a:ext cx="8503736" cy="12598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335834F-9CE7-F60F-F633-921989DFDD38}"/>
              </a:ext>
            </a:extLst>
          </p:cNvPr>
          <p:cNvSpPr/>
          <p:nvPr/>
        </p:nvSpPr>
        <p:spPr>
          <a:xfrm>
            <a:off x="3487936" y="5982368"/>
            <a:ext cx="8820150" cy="23767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F932B1D-9FC2-9833-B5F8-8BBAD9AB1E0A}"/>
              </a:ext>
            </a:extLst>
          </p:cNvPr>
          <p:cNvCxnSpPr>
            <a:cxnSpLocks/>
            <a:stCxn id="28" idx="2"/>
            <a:endCxn id="6" idx="0"/>
          </p:cNvCxnSpPr>
          <p:nvPr/>
        </p:nvCxnSpPr>
        <p:spPr>
          <a:xfrm flipH="1">
            <a:off x="7898011" y="4990427"/>
            <a:ext cx="48195" cy="9919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78DE4BD-0E86-1956-6C65-EB232666B67A}"/>
              </a:ext>
            </a:extLst>
          </p:cNvPr>
          <p:cNvSpPr txBox="1"/>
          <p:nvPr/>
        </p:nvSpPr>
        <p:spPr>
          <a:xfrm>
            <a:off x="4983536" y="5783789"/>
            <a:ext cx="2027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sym typeface="Wingdings" panose="05000000000000000000" pitchFamily="2" charset="2"/>
              </a:rPr>
              <a:t>입찰 내역 조회됨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F5E3F81-E3F3-859C-0044-5E030CE8F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331" y="6411276"/>
            <a:ext cx="8646548" cy="4208060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BDA66B-EFC5-AFB6-34B1-39D388B28A41}"/>
              </a:ext>
            </a:extLst>
          </p:cNvPr>
          <p:cNvSpPr/>
          <p:nvPr/>
        </p:nvSpPr>
        <p:spPr>
          <a:xfrm>
            <a:off x="3529011" y="6583356"/>
            <a:ext cx="304800" cy="30187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99F571F-EA56-9E3E-EFB2-39306CF3E505}"/>
              </a:ext>
            </a:extLst>
          </p:cNvPr>
          <p:cNvCxnSpPr>
            <a:cxnSpLocks/>
            <a:stCxn id="6" idx="2"/>
            <a:endCxn id="38" idx="3"/>
          </p:cNvCxnSpPr>
          <p:nvPr/>
        </p:nvCxnSpPr>
        <p:spPr>
          <a:xfrm flipH="1">
            <a:off x="3833811" y="6220047"/>
            <a:ext cx="4064200" cy="5142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06394E0-7DCA-6406-E887-CA6C5BDEC5B1}"/>
              </a:ext>
            </a:extLst>
          </p:cNvPr>
          <p:cNvSpPr/>
          <p:nvPr/>
        </p:nvSpPr>
        <p:spPr>
          <a:xfrm>
            <a:off x="3509961" y="9066544"/>
            <a:ext cx="8577783" cy="125981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94C3286-A6A5-B3F6-35A1-858C0CD82B3A}"/>
              </a:ext>
            </a:extLst>
          </p:cNvPr>
          <p:cNvCxnSpPr>
            <a:cxnSpLocks/>
            <a:stCxn id="38" idx="2"/>
            <a:endCxn id="44" idx="0"/>
          </p:cNvCxnSpPr>
          <p:nvPr/>
        </p:nvCxnSpPr>
        <p:spPr>
          <a:xfrm>
            <a:off x="3681411" y="6885231"/>
            <a:ext cx="4117442" cy="21813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063F695-E202-323C-7006-FA0F3ADD4DA1}"/>
              </a:ext>
            </a:extLst>
          </p:cNvPr>
          <p:cNvCxnSpPr>
            <a:cxnSpLocks/>
            <a:stCxn id="44" idx="0"/>
            <a:endCxn id="52" idx="3"/>
          </p:cNvCxnSpPr>
          <p:nvPr/>
        </p:nvCxnSpPr>
        <p:spPr>
          <a:xfrm flipH="1">
            <a:off x="5327833" y="9066544"/>
            <a:ext cx="2471020" cy="715632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29DA72E-9956-C339-01ED-CEAB26D06415}"/>
              </a:ext>
            </a:extLst>
          </p:cNvPr>
          <p:cNvSpPr/>
          <p:nvPr/>
        </p:nvSpPr>
        <p:spPr>
          <a:xfrm>
            <a:off x="4289608" y="9682719"/>
            <a:ext cx="1038225" cy="198914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142AD7F-A7A8-09A2-50AB-B0D66CD1D969}"/>
              </a:ext>
            </a:extLst>
          </p:cNvPr>
          <p:cNvSpPr/>
          <p:nvPr/>
        </p:nvSpPr>
        <p:spPr>
          <a:xfrm>
            <a:off x="11359536" y="10326357"/>
            <a:ext cx="384717" cy="283927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DE5E69E-23BA-9904-B529-8C0AB5F3F283}"/>
              </a:ext>
            </a:extLst>
          </p:cNvPr>
          <p:cNvSpPr/>
          <p:nvPr/>
        </p:nvSpPr>
        <p:spPr>
          <a:xfrm>
            <a:off x="11771792" y="10326357"/>
            <a:ext cx="384717" cy="283927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AED498BB-77F9-D153-3ADA-864EEECEB68F}"/>
              </a:ext>
            </a:extLst>
          </p:cNvPr>
          <p:cNvCxnSpPr>
            <a:cxnSpLocks/>
            <a:stCxn id="44" idx="0"/>
            <a:endCxn id="55" idx="0"/>
          </p:cNvCxnSpPr>
          <p:nvPr/>
        </p:nvCxnSpPr>
        <p:spPr>
          <a:xfrm>
            <a:off x="7798853" y="9066544"/>
            <a:ext cx="4165298" cy="125981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CCDDDD6-23C9-088D-B666-A268C010F3EA}"/>
              </a:ext>
            </a:extLst>
          </p:cNvPr>
          <p:cNvCxnSpPr>
            <a:cxnSpLocks/>
            <a:stCxn id="52" idx="2"/>
            <a:endCxn id="54" idx="1"/>
          </p:cNvCxnSpPr>
          <p:nvPr/>
        </p:nvCxnSpPr>
        <p:spPr>
          <a:xfrm>
            <a:off x="4808721" y="9881633"/>
            <a:ext cx="6550815" cy="58668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8BB7B14-14BF-297B-E942-72A8FCC2D62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305175" y="4855218"/>
            <a:ext cx="4416457" cy="4140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B5FBAA6-2409-A387-77EF-AA563D66E85B}"/>
              </a:ext>
            </a:extLst>
          </p:cNvPr>
          <p:cNvSpPr txBox="1"/>
          <p:nvPr/>
        </p:nvSpPr>
        <p:spPr>
          <a:xfrm>
            <a:off x="4851986" y="8801469"/>
            <a:ext cx="2027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sym typeface="Wingdings" panose="05000000000000000000" pitchFamily="2" charset="2"/>
              </a:rPr>
              <a:t>입찰 내역 추가됨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B7CD71-09B1-736C-9B74-D20B8EC242D5}"/>
              </a:ext>
            </a:extLst>
          </p:cNvPr>
          <p:cNvSpPr txBox="1"/>
          <p:nvPr/>
        </p:nvSpPr>
        <p:spPr>
          <a:xfrm>
            <a:off x="7338011" y="9195911"/>
            <a:ext cx="20278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accent3"/>
                </a:solidFill>
                <a:sym typeface="Wingdings" panose="05000000000000000000" pitchFamily="2" charset="2"/>
              </a:rPr>
              <a:t>수정</a:t>
            </a:r>
            <a:r>
              <a:rPr lang="ko-KR" altLang="en-US" sz="1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sym typeface="Wingdings" panose="05000000000000000000" pitchFamily="2" charset="2"/>
              </a:rPr>
              <a:t>or </a:t>
            </a:r>
            <a:r>
              <a:rPr lang="ko-KR" altLang="en-US" sz="1000" b="1" dirty="0">
                <a:solidFill>
                  <a:schemeClr val="accent5"/>
                </a:solidFill>
                <a:sym typeface="Wingdings" panose="05000000000000000000" pitchFamily="2" charset="2"/>
              </a:rPr>
              <a:t>취소</a:t>
            </a:r>
            <a:endParaRPr lang="ko-KR" altLang="en-US" sz="1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369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27F39-1B63-4098-D525-100950D1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401935A-CC5F-1575-CD6A-767CCDC6474B}"/>
              </a:ext>
            </a:extLst>
          </p:cNvPr>
          <p:cNvSpPr txBox="1"/>
          <p:nvPr/>
        </p:nvSpPr>
        <p:spPr>
          <a:xfrm>
            <a:off x="144884" y="139181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Daily </a:t>
            </a:r>
            <a:r>
              <a:rPr lang="ko-KR" altLang="en-US" b="1" dirty="0"/>
              <a:t>운영 </a:t>
            </a:r>
            <a:r>
              <a:rPr lang="en-US" altLang="ko-KR" b="1" dirty="0"/>
              <a:t>(</a:t>
            </a:r>
            <a:r>
              <a:rPr lang="ko-KR" altLang="en-US" b="1" dirty="0"/>
              <a:t>입찰하기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0F6B4-4953-7B20-EBD2-EA1059355350}"/>
              </a:ext>
            </a:extLst>
          </p:cNvPr>
          <p:cNvSpPr txBox="1"/>
          <p:nvPr/>
        </p:nvSpPr>
        <p:spPr>
          <a:xfrm>
            <a:off x="538866" y="487477"/>
            <a:ext cx="109694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 dirty="0"/>
              <a:t>17:45</a:t>
            </a:r>
            <a:r>
              <a:rPr lang="ko-KR" altLang="en-US" sz="1200" dirty="0"/>
              <a:t>부터 입찰 준비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en-US" altLang="ko-KR" sz="1200" dirty="0"/>
              <a:t>‘</a:t>
            </a:r>
            <a:r>
              <a:rPr lang="ko-KR" altLang="en-US" sz="1200" dirty="0" err="1"/>
              <a:t>큐텐</a:t>
            </a:r>
            <a:r>
              <a:rPr lang="ko-KR" altLang="en-US" sz="1200" dirty="0"/>
              <a:t> 플러스전시 입찰 기록</a:t>
            </a:r>
            <a:r>
              <a:rPr lang="en-US" altLang="ko-KR" sz="1200" dirty="0"/>
              <a:t>’ </a:t>
            </a:r>
            <a:r>
              <a:rPr lang="ko-KR" altLang="en-US" sz="1200" dirty="0"/>
              <a:t>구글 시트 들어가서 최근 </a:t>
            </a:r>
            <a:r>
              <a:rPr lang="ko-KR" altLang="en-US" sz="1200" dirty="0" err="1"/>
              <a:t>입찰가</a:t>
            </a:r>
            <a:r>
              <a:rPr lang="ko-KR" altLang="en-US" sz="1200" dirty="0"/>
              <a:t> 및 코멘트 확인하면서 목표 순위 및 </a:t>
            </a:r>
            <a:r>
              <a:rPr lang="ko-KR" altLang="en-US" sz="1200" dirty="0" err="1"/>
              <a:t>입찰가</a:t>
            </a:r>
            <a:r>
              <a:rPr lang="ko-KR" altLang="en-US" sz="1200" dirty="0"/>
              <a:t> 생각하기</a:t>
            </a:r>
            <a:endParaRPr lang="en-US" altLang="ko-KR" sz="1200" dirty="0"/>
          </a:p>
          <a:p>
            <a:pPr marL="800100" lvl="1" indent="-342900">
              <a:buFontTx/>
              <a:buAutoNum type="arabicPeriod"/>
            </a:pPr>
            <a:r>
              <a:rPr lang="en-US" altLang="ko-KR" sz="1200" dirty="0"/>
              <a:t>https://docs.google.com/spreadsheets/d/1wsgn4IxFrFc9ubVtmosFy6wDsKqztnUWfy1Jniu7YRU/edit?gid=0#gid=0</a:t>
            </a:r>
          </a:p>
          <a:p>
            <a:pPr marL="342900" indent="-342900">
              <a:buAutoNum type="arabicPeriod"/>
            </a:pPr>
            <a:r>
              <a:rPr lang="en-US" altLang="ko-KR" sz="1200" dirty="0" err="1"/>
              <a:t>Qsm</a:t>
            </a:r>
            <a:r>
              <a:rPr lang="ko-KR" altLang="en-US" sz="1200" dirty="0"/>
              <a:t> 창 두 개 띄우기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왼쪽 창 </a:t>
            </a:r>
            <a:r>
              <a:rPr lang="en-US" altLang="ko-KR" sz="1200" dirty="0"/>
              <a:t>– </a:t>
            </a:r>
            <a:r>
              <a:rPr lang="ko-KR" altLang="en-US" sz="1200" dirty="0"/>
              <a:t>플러스 전시 들어가서 입찰할 키워드 입력 해두기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오른쪽 창 </a:t>
            </a:r>
            <a:r>
              <a:rPr lang="en-US" altLang="ko-KR" sz="1200" dirty="0"/>
              <a:t>– </a:t>
            </a:r>
            <a:r>
              <a:rPr lang="ko-KR" altLang="en-US" sz="1200" dirty="0"/>
              <a:t>플러스 전시 들어가서 입찰할 키워드 입력 </a:t>
            </a:r>
            <a:r>
              <a:rPr lang="en-US" altLang="ko-KR" sz="1200" dirty="0"/>
              <a:t>&amp; </a:t>
            </a:r>
            <a:r>
              <a:rPr lang="ko-KR" altLang="en-US" sz="1200" dirty="0"/>
              <a:t>노출할 상품 선택까지 해두기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왼쪽 창 </a:t>
            </a:r>
            <a:r>
              <a:rPr lang="en-US" altLang="ko-KR" sz="1200" dirty="0"/>
              <a:t>– </a:t>
            </a:r>
            <a:r>
              <a:rPr lang="ko-KR" altLang="en-US" sz="1200" dirty="0"/>
              <a:t>검색 버튼 연타하면서 입찰 리스트의 현황 실시간으로 변경되는 것 관찰하기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왼쪽 창 </a:t>
            </a:r>
            <a:r>
              <a:rPr lang="en-US" altLang="ko-KR" sz="1200" dirty="0"/>
              <a:t>– ＇</a:t>
            </a:r>
            <a:r>
              <a:rPr lang="ko-KR" altLang="en-US" sz="1200" dirty="0"/>
              <a:t>마감까지 남은 시간 </a:t>
            </a:r>
            <a:r>
              <a:rPr lang="en-US" altLang="ko-KR" sz="1200" dirty="0"/>
              <a:t>’ 2~3</a:t>
            </a:r>
            <a:r>
              <a:rPr lang="ko-KR" altLang="en-US" sz="1200" dirty="0"/>
              <a:t>초 남았을 때 까지 현황 관찰하다가 오른쪽 창으로 이동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오른쪽 창</a:t>
            </a:r>
            <a:r>
              <a:rPr lang="en-US" altLang="ko-KR" sz="1200" dirty="0"/>
              <a:t>  - </a:t>
            </a:r>
            <a:r>
              <a:rPr lang="ko-KR" altLang="en-US" sz="1200" dirty="0"/>
              <a:t>최종 입찰 금액을 </a:t>
            </a:r>
            <a:r>
              <a:rPr lang="ko-KR" altLang="en-US" sz="1200" dirty="0" err="1"/>
              <a:t>입찰가에</a:t>
            </a:r>
            <a:r>
              <a:rPr lang="ko-KR" altLang="en-US" sz="1200" dirty="0"/>
              <a:t> 입력하고 입찰하기 버튼 클릭</a:t>
            </a:r>
            <a:endParaRPr lang="en-US" altLang="ko-KR" sz="1200" dirty="0"/>
          </a:p>
          <a:p>
            <a:pPr marL="1257300" lvl="2" indent="-342900">
              <a:buFont typeface="+mj-lt"/>
              <a:buAutoNum type="arabicPeriod"/>
            </a:pPr>
            <a:endParaRPr lang="en-US" altLang="ja-JP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91850A-CCCD-A533-6468-75FE4D5649B0}"/>
              </a:ext>
            </a:extLst>
          </p:cNvPr>
          <p:cNvSpPr/>
          <p:nvPr/>
        </p:nvSpPr>
        <p:spPr>
          <a:xfrm>
            <a:off x="11161642" y="5629640"/>
            <a:ext cx="535551" cy="164874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CD81532-2C81-E0FE-AC28-D3EFE0DBF52C}"/>
              </a:ext>
            </a:extLst>
          </p:cNvPr>
          <p:cNvGrpSpPr/>
          <p:nvPr/>
        </p:nvGrpSpPr>
        <p:grpSpPr>
          <a:xfrm>
            <a:off x="306456" y="2339557"/>
            <a:ext cx="11998187" cy="6223104"/>
            <a:chOff x="276639" y="2031444"/>
            <a:chExt cx="11998187" cy="622310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9E38518-59E4-C8BD-28C2-FA290B638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639" y="2031444"/>
              <a:ext cx="11638722" cy="6223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F976563-028B-8741-6291-9AC04086B76A}"/>
                </a:ext>
              </a:extLst>
            </p:cNvPr>
            <p:cNvSpPr/>
            <p:nvPr/>
          </p:nvSpPr>
          <p:spPr>
            <a:xfrm>
              <a:off x="1421195" y="4367852"/>
              <a:ext cx="874744" cy="14451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55305-9724-DBC4-1CB3-EC4C29C814C9}"/>
                </a:ext>
              </a:extLst>
            </p:cNvPr>
            <p:cNvSpPr txBox="1"/>
            <p:nvPr/>
          </p:nvSpPr>
          <p:spPr>
            <a:xfrm>
              <a:off x="2463298" y="4082138"/>
              <a:ext cx="47608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i="1" dirty="0" err="1">
                  <a:solidFill>
                    <a:srgbClr val="FF0000"/>
                  </a:solidFill>
                </a:rPr>
                <a:t>검색란에</a:t>
              </a:r>
              <a:r>
                <a:rPr lang="ko-KR" altLang="en-US" sz="1000" b="1" i="1" dirty="0">
                  <a:solidFill>
                    <a:srgbClr val="FF0000"/>
                  </a:solidFill>
                </a:rPr>
                <a:t> 키워드 넣고 검색</a:t>
              </a:r>
              <a:r>
                <a:rPr lang="en-US" altLang="ko-KR" sz="1000" b="1" i="1" dirty="0">
                  <a:solidFill>
                    <a:srgbClr val="FF0000"/>
                  </a:solidFill>
                </a:rPr>
                <a:t> </a:t>
              </a:r>
              <a:r>
                <a:rPr lang="ko-KR" altLang="en-US" sz="1000" b="1" i="1" dirty="0">
                  <a:solidFill>
                    <a:srgbClr val="FF0000"/>
                  </a:solidFill>
                </a:rPr>
                <a:t>버튼 연타하면서 </a:t>
              </a:r>
              <a:endParaRPr lang="en-US" altLang="ko-KR" sz="1000" b="1" i="1" dirty="0">
                <a:solidFill>
                  <a:srgbClr val="FF0000"/>
                </a:solidFill>
              </a:endParaRPr>
            </a:p>
            <a:p>
              <a:r>
                <a:rPr lang="ko-KR" altLang="en-US" sz="1000" b="1" i="1" dirty="0">
                  <a:solidFill>
                    <a:srgbClr val="FF0000"/>
                  </a:solidFill>
                </a:rPr>
                <a:t>          입찰 리스트에 입찰 현황이 실시간으로 바뀌는 것 관찰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B7DCFAE-05E9-F1A9-BC17-8ACA8FA2F12D}"/>
                </a:ext>
              </a:extLst>
            </p:cNvPr>
            <p:cNvSpPr/>
            <p:nvPr/>
          </p:nvSpPr>
          <p:spPr>
            <a:xfrm>
              <a:off x="2315817" y="4367852"/>
              <a:ext cx="294962" cy="14451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0AD3988-D809-4E07-A677-3084E8269F51}"/>
                </a:ext>
              </a:extLst>
            </p:cNvPr>
            <p:cNvSpPr/>
            <p:nvPr/>
          </p:nvSpPr>
          <p:spPr>
            <a:xfrm>
              <a:off x="4217503" y="5011329"/>
              <a:ext cx="1368287" cy="1121114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2BC40DDE-032A-60A5-3E94-2FFDF108E0BB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610779" y="4440109"/>
              <a:ext cx="1606724" cy="5712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F9E4910-61FB-70A7-129F-138A7C37F5CB}"/>
                </a:ext>
              </a:extLst>
            </p:cNvPr>
            <p:cNvSpPr/>
            <p:nvPr/>
          </p:nvSpPr>
          <p:spPr>
            <a:xfrm>
              <a:off x="2905740" y="5894205"/>
              <a:ext cx="1228937" cy="144513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C7A4227-6113-CA96-9ABF-FF8753546A76}"/>
                </a:ext>
              </a:extLst>
            </p:cNvPr>
            <p:cNvSpPr/>
            <p:nvPr/>
          </p:nvSpPr>
          <p:spPr>
            <a:xfrm>
              <a:off x="8415332" y="4886752"/>
              <a:ext cx="688912" cy="18951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08106BC-8F1E-5941-4446-6927B10D709C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 flipV="1">
              <a:off x="4134677" y="4981512"/>
              <a:ext cx="4280655" cy="98495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9CD87BD-8C05-891A-404B-434C9529A46A}"/>
                </a:ext>
              </a:extLst>
            </p:cNvPr>
            <p:cNvCxnSpPr>
              <a:cxnSpLocks/>
              <a:stCxn id="18" idx="2"/>
              <a:endCxn id="19" idx="1"/>
            </p:cNvCxnSpPr>
            <p:nvPr/>
          </p:nvCxnSpPr>
          <p:spPr>
            <a:xfrm>
              <a:off x="8759788" y="5076271"/>
              <a:ext cx="2401854" cy="635806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8146E18-1A55-BDC0-B1E8-089329F07A5A}"/>
                </a:ext>
              </a:extLst>
            </p:cNvPr>
            <p:cNvSpPr txBox="1"/>
            <p:nvPr/>
          </p:nvSpPr>
          <p:spPr>
            <a:xfrm>
              <a:off x="2905740" y="6134434"/>
              <a:ext cx="936908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마감까지 남은 시간 </a:t>
              </a:r>
              <a:r>
                <a:rPr lang="en-US" altLang="ko-KR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2~3</a:t>
              </a:r>
              <a:r>
                <a:rPr lang="ko-KR" altLang="en-US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초까지 검색 버튼 계속 클릭하면서 현황 관찰하다가</a:t>
              </a:r>
              <a:endParaRPr lang="en-US" altLang="ko-KR" sz="1000" b="1" i="1" dirty="0">
                <a:solidFill>
                  <a:schemeClr val="accent3"/>
                </a:solidFill>
                <a:highlight>
                  <a:srgbClr val="FFFF00"/>
                </a:highlight>
              </a:endParaRPr>
            </a:p>
            <a:p>
              <a:r>
                <a:rPr lang="en-US" altLang="ko-KR" sz="1000" b="1" i="1" dirty="0">
                  <a:solidFill>
                    <a:schemeClr val="accent3"/>
                  </a:solidFill>
                </a:rPr>
                <a:t>                                                                                                      </a:t>
              </a:r>
              <a:r>
                <a:rPr lang="ko-KR" altLang="en-US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마감까지 남은 시간 </a:t>
              </a:r>
              <a:r>
                <a:rPr lang="en-US" altLang="ko-KR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2~3</a:t>
              </a:r>
              <a:r>
                <a:rPr lang="ko-KR" altLang="en-US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초 정도에 최종 입찰 금액 입력 </a:t>
              </a:r>
              <a:r>
                <a:rPr lang="en-US" altLang="ko-KR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&amp; </a:t>
              </a:r>
              <a:r>
                <a:rPr lang="ko-KR" altLang="en-US" sz="1000" b="1" i="1" dirty="0">
                  <a:solidFill>
                    <a:schemeClr val="accent3"/>
                  </a:solidFill>
                  <a:highlight>
                    <a:srgbClr val="FFFF00"/>
                  </a:highlight>
                </a:rPr>
                <a:t>입찰하기 버튼 클릭</a:t>
              </a:r>
            </a:p>
            <a:p>
              <a:endParaRPr lang="ko-KR" altLang="en-US" sz="1000" b="1" i="1" dirty="0">
                <a:solidFill>
                  <a:schemeClr val="accent3"/>
                </a:solidFill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669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AB1A-27F7-9738-B381-46B146B9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3B7FFBE-0120-68FD-120E-E3E2E6DBD471}"/>
              </a:ext>
            </a:extLst>
          </p:cNvPr>
          <p:cNvSpPr txBox="1"/>
          <p:nvPr/>
        </p:nvSpPr>
        <p:spPr>
          <a:xfrm>
            <a:off x="144884" y="139181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Daily </a:t>
            </a:r>
            <a:r>
              <a:rPr lang="ko-KR" altLang="en-US" b="1" dirty="0"/>
              <a:t>운영 </a:t>
            </a:r>
            <a:r>
              <a:rPr lang="en-US" altLang="ko-KR" b="1" dirty="0"/>
              <a:t>(</a:t>
            </a:r>
            <a:r>
              <a:rPr lang="ko-KR" altLang="en-US" b="1" dirty="0"/>
              <a:t>기록하기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FFF34-C16B-1562-1E7A-44A577D042C3}"/>
              </a:ext>
            </a:extLst>
          </p:cNvPr>
          <p:cNvSpPr txBox="1"/>
          <p:nvPr/>
        </p:nvSpPr>
        <p:spPr>
          <a:xfrm>
            <a:off x="538866" y="487477"/>
            <a:ext cx="10969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 dirty="0"/>
              <a:t>‘</a:t>
            </a:r>
            <a:r>
              <a:rPr lang="ko-KR" altLang="en-US" sz="1200" dirty="0" err="1"/>
              <a:t>큐텐</a:t>
            </a:r>
            <a:r>
              <a:rPr lang="ko-KR" altLang="en-US" sz="1200" dirty="0"/>
              <a:t> 플러스전시 입찰 기록</a:t>
            </a:r>
            <a:r>
              <a:rPr lang="en-US" altLang="ko-KR" sz="1200" dirty="0"/>
              <a:t>’ </a:t>
            </a:r>
            <a:r>
              <a:rPr lang="ko-KR" altLang="en-US" sz="1200" dirty="0"/>
              <a:t>구글 시트에 들어가서</a:t>
            </a:r>
            <a:endParaRPr lang="en-US" altLang="ko-KR" sz="1200" dirty="0"/>
          </a:p>
          <a:p>
            <a:pPr marL="800100" lvl="1" indent="-342900">
              <a:buAutoNum type="arabicPeriod"/>
            </a:pPr>
            <a:r>
              <a:rPr lang="en-US" altLang="ko-KR" sz="1200" dirty="0"/>
              <a:t>https://docs.google.com/spreadsheets/d/1wsgn4IxFrFc9ubVtmosFy6wDsKqztnUWfy1Jniu7YRU/edit?gid=0#gid=0</a:t>
            </a:r>
          </a:p>
          <a:p>
            <a:pPr marL="342900" indent="-342900">
              <a:buAutoNum type="arabicPeriod"/>
            </a:pPr>
            <a:r>
              <a:rPr lang="en-US" altLang="ko-KR" sz="1200" dirty="0" err="1"/>
              <a:t>Qsm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입찰 리스트</a:t>
            </a:r>
            <a:r>
              <a:rPr lang="en-US" altLang="ko-KR" sz="1200" dirty="0"/>
              <a:t>’</a:t>
            </a:r>
            <a:r>
              <a:rPr lang="ko-KR" altLang="en-US" sz="1200" dirty="0"/>
              <a:t>의 최종 입찰 </a:t>
            </a:r>
            <a:r>
              <a:rPr lang="en-US" altLang="ko-KR" sz="1200" dirty="0"/>
              <a:t>1~5</a:t>
            </a:r>
            <a:r>
              <a:rPr lang="ko-KR" altLang="en-US" sz="1200" dirty="0"/>
              <a:t>순위 금액을 구글 시트 </a:t>
            </a:r>
            <a:r>
              <a:rPr lang="en-US" altLang="ko-KR" sz="1200" dirty="0"/>
              <a:t>‘</a:t>
            </a:r>
            <a:r>
              <a:rPr lang="ko-KR" altLang="en-US" sz="1200" dirty="0"/>
              <a:t>최종 </a:t>
            </a:r>
            <a:r>
              <a:rPr lang="ko-KR" altLang="en-US" sz="1200" dirty="0" err="1"/>
              <a:t>입찰가</a:t>
            </a:r>
            <a:r>
              <a:rPr lang="en-US" altLang="ko-KR" sz="1200" dirty="0"/>
              <a:t>＇</a:t>
            </a:r>
            <a:r>
              <a:rPr lang="ko-KR" altLang="en-US" sz="1200" dirty="0"/>
              <a:t>란에 기록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오늘 입찰한 순위의 </a:t>
            </a:r>
            <a:r>
              <a:rPr lang="en-US" altLang="ko-KR" sz="1200" dirty="0"/>
              <a:t>‘</a:t>
            </a:r>
            <a:r>
              <a:rPr lang="ko-KR" altLang="en-US" sz="1200" dirty="0"/>
              <a:t>결과</a:t>
            </a:r>
            <a:r>
              <a:rPr lang="en-US" altLang="ko-KR" sz="1200" dirty="0"/>
              <a:t>‘ </a:t>
            </a:r>
            <a:r>
              <a:rPr lang="ko-KR" altLang="en-US" sz="1200" dirty="0"/>
              <a:t>란에 </a:t>
            </a:r>
            <a:r>
              <a:rPr lang="en-US" altLang="ko-KR" sz="1200" dirty="0"/>
              <a:t>‘</a:t>
            </a:r>
            <a:r>
              <a:rPr lang="ko-KR" altLang="en-US" sz="1200" dirty="0"/>
              <a:t>입찰</a:t>
            </a:r>
            <a:r>
              <a:rPr lang="en-US" altLang="ko-KR" sz="1200" dirty="0"/>
              <a:t>’ </a:t>
            </a:r>
            <a:r>
              <a:rPr lang="ko-KR" altLang="en-US" sz="1200" dirty="0"/>
              <a:t>입력 </a:t>
            </a: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구글 시트 </a:t>
            </a:r>
            <a:r>
              <a:rPr lang="en-US" altLang="ko-KR" sz="1200" dirty="0"/>
              <a:t>‘</a:t>
            </a:r>
            <a:r>
              <a:rPr lang="ko-KR" altLang="en-US" sz="1200" dirty="0"/>
              <a:t>코멘트</a:t>
            </a:r>
            <a:r>
              <a:rPr lang="en-US" altLang="ko-KR" sz="1200" dirty="0"/>
              <a:t>’ </a:t>
            </a:r>
            <a:r>
              <a:rPr lang="ko-KR" altLang="en-US" sz="1200" dirty="0"/>
              <a:t>란에 간단한 운영 일지를 기록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ja-JP" sz="12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4A1783F-9615-C392-4CEF-1C9E11B47A9B}"/>
              </a:ext>
            </a:extLst>
          </p:cNvPr>
          <p:cNvGrpSpPr/>
          <p:nvPr/>
        </p:nvGrpSpPr>
        <p:grpSpPr>
          <a:xfrm>
            <a:off x="538866" y="1938955"/>
            <a:ext cx="10953750" cy="4919045"/>
            <a:chOff x="538162" y="1678147"/>
            <a:chExt cx="10953750" cy="491904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F496A3D-F1B8-349F-AAC3-E45CE918F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162" y="4034967"/>
              <a:ext cx="10953750" cy="25622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E90E99C-1E98-ED89-762E-635587219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8162" y="1678147"/>
              <a:ext cx="2219325" cy="208597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65775E0-7281-C0B9-7DDC-DE1A555CDE42}"/>
                </a:ext>
              </a:extLst>
            </p:cNvPr>
            <p:cNvSpPr/>
            <p:nvPr/>
          </p:nvSpPr>
          <p:spPr>
            <a:xfrm>
              <a:off x="1130699" y="2112111"/>
              <a:ext cx="1354083" cy="102935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B7E46EA-DDDA-190E-44AC-6C1D5A7DA5A9}"/>
                </a:ext>
              </a:extLst>
            </p:cNvPr>
            <p:cNvSpPr/>
            <p:nvPr/>
          </p:nvSpPr>
          <p:spPr>
            <a:xfrm>
              <a:off x="4691269" y="4256684"/>
              <a:ext cx="983975" cy="1059395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46F2251-A6DA-0787-62E8-5381494787C2}"/>
                </a:ext>
              </a:extLst>
            </p:cNvPr>
            <p:cNvCxnSpPr>
              <a:cxnSpLocks/>
              <a:stCxn id="18" idx="2"/>
              <a:endCxn id="19" idx="1"/>
            </p:cNvCxnSpPr>
            <p:nvPr/>
          </p:nvCxnSpPr>
          <p:spPr>
            <a:xfrm>
              <a:off x="1807741" y="3141470"/>
              <a:ext cx="2883528" cy="1644912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7D04CE-37CD-B3F6-9F84-40F440AD4FEA}"/>
              </a:ext>
            </a:extLst>
          </p:cNvPr>
          <p:cNvSpPr/>
          <p:nvPr/>
        </p:nvSpPr>
        <p:spPr>
          <a:xfrm>
            <a:off x="5675948" y="4918999"/>
            <a:ext cx="913695" cy="22947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1AC32D-BD80-118A-531F-4D027746BB34}"/>
              </a:ext>
            </a:extLst>
          </p:cNvPr>
          <p:cNvSpPr/>
          <p:nvPr/>
        </p:nvSpPr>
        <p:spPr>
          <a:xfrm>
            <a:off x="6659923" y="4918999"/>
            <a:ext cx="4680625" cy="22947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652</Words>
  <Application>Microsoft Office PowerPoint</Application>
  <PresentationFormat>와이드스크린</PresentationFormat>
  <Paragraphs>62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동건 이</dc:creator>
  <cp:lastModifiedBy>동건 이</cp:lastModifiedBy>
  <cp:revision>3</cp:revision>
  <dcterms:created xsi:type="dcterms:W3CDTF">2026-03-11T08:39:31Z</dcterms:created>
  <dcterms:modified xsi:type="dcterms:W3CDTF">2026-03-16T02:33:52Z</dcterms:modified>
</cp:coreProperties>
</file>